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20"/>
  </p:notesMasterIdLst>
  <p:handoutMasterIdLst>
    <p:handoutMasterId r:id="rId21"/>
  </p:handoutMasterIdLst>
  <p:sldIdLst>
    <p:sldId id="262" r:id="rId3"/>
    <p:sldId id="277" r:id="rId4"/>
    <p:sldId id="355" r:id="rId5"/>
    <p:sldId id="357" r:id="rId6"/>
    <p:sldId id="356" r:id="rId7"/>
    <p:sldId id="358" r:id="rId8"/>
    <p:sldId id="354" r:id="rId9"/>
    <p:sldId id="287" r:id="rId10"/>
    <p:sldId id="279" r:id="rId11"/>
    <p:sldId id="280" r:id="rId12"/>
    <p:sldId id="281" r:id="rId13"/>
    <p:sldId id="284" r:id="rId14"/>
    <p:sldId id="285" r:id="rId15"/>
    <p:sldId id="286" r:id="rId16"/>
    <p:sldId id="288" r:id="rId17"/>
    <p:sldId id="289" r:id="rId18"/>
    <p:sldId id="360" r:id="rId19"/>
  </p:sldIdLst>
  <p:sldSz cx="9144000" cy="6858000" type="screen4x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pos="334">
          <p15:clr>
            <a:srgbClr val="A4A3A4"/>
          </p15:clr>
        </p15:guide>
        <p15:guide id="4" pos="54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herine Wong Eileen" initials="CWE" lastIdx="5" clrIdx="0"/>
  <p:cmAuthor id="2" name="Leow Wei Qiang" initials="LWQ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118"/>
    <a:srgbClr val="0000FF"/>
    <a:srgbClr val="FF0000"/>
    <a:srgbClr val="990099"/>
    <a:srgbClr val="660066"/>
    <a:srgbClr val="4F81BD"/>
    <a:srgbClr val="D0D8E8"/>
    <a:srgbClr val="FFFF99"/>
    <a:srgbClr val="9900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80" autoAdjust="0"/>
    <p:restoredTop sz="94477" autoAdjust="0"/>
  </p:normalViewPr>
  <p:slideViewPr>
    <p:cSldViewPr snapToGrid="0" snapToObjects="1">
      <p:cViewPr varScale="1">
        <p:scale>
          <a:sx n="92" d="100"/>
          <a:sy n="92" d="100"/>
        </p:scale>
        <p:origin x="2168" y="488"/>
      </p:cViewPr>
      <p:guideLst>
        <p:guide orient="horz" pos="576"/>
        <p:guide pos="2880"/>
        <p:guide pos="334"/>
        <p:guide pos="5472"/>
      </p:guideLst>
    </p:cSldViewPr>
  </p:slideViewPr>
  <p:outlineViewPr>
    <p:cViewPr>
      <p:scale>
        <a:sx n="33" d="100"/>
        <a:sy n="33" d="100"/>
      </p:scale>
      <p:origin x="0" y="-58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-7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7151CB-0A78-42C9-9D69-CE921E14B171}" type="doc">
      <dgm:prSet loTypeId="urn:microsoft.com/office/officeart/2005/8/layout/cycle5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FD1A59A2-BAFB-430C-81F1-78647E2F3952}">
      <dgm:prSet phldrT="[Text]"/>
      <dgm:spPr/>
      <dgm:t>
        <a:bodyPr/>
        <a:lstStyle/>
        <a:p>
          <a:r>
            <a:rPr lang="en-SG" dirty="0"/>
            <a:t>Write code</a:t>
          </a:r>
        </a:p>
      </dgm:t>
    </dgm:pt>
    <dgm:pt modelId="{6FB3316C-9AAD-4AE7-B5A5-B21C7A5286A1}" type="parTrans" cxnId="{762AF503-3889-4467-9E6F-3B71B3D2880C}">
      <dgm:prSet/>
      <dgm:spPr/>
      <dgm:t>
        <a:bodyPr/>
        <a:lstStyle/>
        <a:p>
          <a:endParaRPr lang="en-SG"/>
        </a:p>
      </dgm:t>
    </dgm:pt>
    <dgm:pt modelId="{7B4329E5-DD70-491C-951E-B0A4EF3AB2D2}" type="sibTrans" cxnId="{762AF503-3889-4467-9E6F-3B71B3D2880C}">
      <dgm:prSet/>
      <dgm:spPr/>
      <dgm:t>
        <a:bodyPr/>
        <a:lstStyle/>
        <a:p>
          <a:endParaRPr lang="en-SG"/>
        </a:p>
      </dgm:t>
    </dgm:pt>
    <dgm:pt modelId="{48B480BC-465F-41A4-A66C-C8871F50D707}">
      <dgm:prSet phldrT="[Text]"/>
      <dgm:spPr/>
      <dgm:t>
        <a:bodyPr/>
        <a:lstStyle/>
        <a:p>
          <a:r>
            <a:rPr lang="en-SG" dirty="0"/>
            <a:t>Run code</a:t>
          </a:r>
        </a:p>
      </dgm:t>
    </dgm:pt>
    <dgm:pt modelId="{E2845B20-87D0-469B-A4E1-3B5011117138}" type="parTrans" cxnId="{BD3F72F4-9792-4CEB-8600-61C9E071C3F6}">
      <dgm:prSet/>
      <dgm:spPr/>
      <dgm:t>
        <a:bodyPr/>
        <a:lstStyle/>
        <a:p>
          <a:endParaRPr lang="en-SG"/>
        </a:p>
      </dgm:t>
    </dgm:pt>
    <dgm:pt modelId="{A09A6A23-C164-470C-A118-E6C4E6CBE41B}" type="sibTrans" cxnId="{BD3F72F4-9792-4CEB-8600-61C9E071C3F6}">
      <dgm:prSet/>
      <dgm:spPr/>
      <dgm:t>
        <a:bodyPr/>
        <a:lstStyle/>
        <a:p>
          <a:endParaRPr lang="en-SG"/>
        </a:p>
      </dgm:t>
    </dgm:pt>
    <dgm:pt modelId="{BDF1F72E-8326-4773-B265-4676B19D001A}">
      <dgm:prSet phldrT="[Text]"/>
      <dgm:spPr/>
      <dgm:t>
        <a:bodyPr/>
        <a:lstStyle/>
        <a:p>
          <a:r>
            <a:rPr lang="en-SG" dirty="0"/>
            <a:t>Check output</a:t>
          </a:r>
        </a:p>
      </dgm:t>
    </dgm:pt>
    <dgm:pt modelId="{2B9B850D-3C29-48E5-81E4-8525F5691738}" type="parTrans" cxnId="{206A7B14-9473-4211-B90E-F15103C12C36}">
      <dgm:prSet/>
      <dgm:spPr/>
      <dgm:t>
        <a:bodyPr/>
        <a:lstStyle/>
        <a:p>
          <a:endParaRPr lang="en-SG"/>
        </a:p>
      </dgm:t>
    </dgm:pt>
    <dgm:pt modelId="{D9C9C4C4-2045-41A1-9B67-1B32AEF144BE}" type="sibTrans" cxnId="{206A7B14-9473-4211-B90E-F15103C12C36}">
      <dgm:prSet/>
      <dgm:spPr/>
      <dgm:t>
        <a:bodyPr/>
        <a:lstStyle/>
        <a:p>
          <a:endParaRPr lang="en-SG"/>
        </a:p>
      </dgm:t>
    </dgm:pt>
    <dgm:pt modelId="{2A4154BB-0FEC-467D-98E0-DFAB573AE904}" type="pres">
      <dgm:prSet presAssocID="{A37151CB-0A78-42C9-9D69-CE921E14B171}" presName="cycle" presStyleCnt="0">
        <dgm:presLayoutVars>
          <dgm:dir/>
          <dgm:resizeHandles val="exact"/>
        </dgm:presLayoutVars>
      </dgm:prSet>
      <dgm:spPr/>
    </dgm:pt>
    <dgm:pt modelId="{4ADAEE74-4D98-4ACE-BBB1-CC5348ACFBE2}" type="pres">
      <dgm:prSet presAssocID="{FD1A59A2-BAFB-430C-81F1-78647E2F3952}" presName="node" presStyleLbl="node1" presStyleIdx="0" presStyleCnt="3">
        <dgm:presLayoutVars>
          <dgm:bulletEnabled val="1"/>
        </dgm:presLayoutVars>
      </dgm:prSet>
      <dgm:spPr/>
    </dgm:pt>
    <dgm:pt modelId="{9DAB0236-B103-4DA6-8F5A-ECA3FA23EE9B}" type="pres">
      <dgm:prSet presAssocID="{FD1A59A2-BAFB-430C-81F1-78647E2F3952}" presName="spNode" presStyleCnt="0"/>
      <dgm:spPr/>
    </dgm:pt>
    <dgm:pt modelId="{FD385471-AD15-4593-90F4-7B620F4C0232}" type="pres">
      <dgm:prSet presAssocID="{7B4329E5-DD70-491C-951E-B0A4EF3AB2D2}" presName="sibTrans" presStyleLbl="sibTrans1D1" presStyleIdx="0" presStyleCnt="3"/>
      <dgm:spPr/>
    </dgm:pt>
    <dgm:pt modelId="{FB4E3B8F-6273-485E-AFE8-4D4D9055B433}" type="pres">
      <dgm:prSet presAssocID="{48B480BC-465F-41A4-A66C-C8871F50D707}" presName="node" presStyleLbl="node1" presStyleIdx="1" presStyleCnt="3">
        <dgm:presLayoutVars>
          <dgm:bulletEnabled val="1"/>
        </dgm:presLayoutVars>
      </dgm:prSet>
      <dgm:spPr/>
    </dgm:pt>
    <dgm:pt modelId="{9CA39CA5-839A-45D2-9705-219529642A04}" type="pres">
      <dgm:prSet presAssocID="{48B480BC-465F-41A4-A66C-C8871F50D707}" presName="spNode" presStyleCnt="0"/>
      <dgm:spPr/>
    </dgm:pt>
    <dgm:pt modelId="{0F9AFFB2-DBA2-464B-B790-DB3A7D5B7D60}" type="pres">
      <dgm:prSet presAssocID="{A09A6A23-C164-470C-A118-E6C4E6CBE41B}" presName="sibTrans" presStyleLbl="sibTrans1D1" presStyleIdx="1" presStyleCnt="3"/>
      <dgm:spPr/>
    </dgm:pt>
    <dgm:pt modelId="{FAF2DEA4-3E50-4BF8-AA34-44FB6F6331AF}" type="pres">
      <dgm:prSet presAssocID="{BDF1F72E-8326-4773-B265-4676B19D001A}" presName="node" presStyleLbl="node1" presStyleIdx="2" presStyleCnt="3">
        <dgm:presLayoutVars>
          <dgm:bulletEnabled val="1"/>
        </dgm:presLayoutVars>
      </dgm:prSet>
      <dgm:spPr/>
    </dgm:pt>
    <dgm:pt modelId="{80589AE6-45AE-4F09-A7E2-018193DBAA0E}" type="pres">
      <dgm:prSet presAssocID="{BDF1F72E-8326-4773-B265-4676B19D001A}" presName="spNode" presStyleCnt="0"/>
      <dgm:spPr/>
    </dgm:pt>
    <dgm:pt modelId="{138120E2-77A9-425F-BAE6-80AA17219BCD}" type="pres">
      <dgm:prSet presAssocID="{D9C9C4C4-2045-41A1-9B67-1B32AEF144BE}" presName="sibTrans" presStyleLbl="sibTrans1D1" presStyleIdx="2" presStyleCnt="3"/>
      <dgm:spPr/>
    </dgm:pt>
  </dgm:ptLst>
  <dgm:cxnLst>
    <dgm:cxn modelId="{762AF503-3889-4467-9E6F-3B71B3D2880C}" srcId="{A37151CB-0A78-42C9-9D69-CE921E14B171}" destId="{FD1A59A2-BAFB-430C-81F1-78647E2F3952}" srcOrd="0" destOrd="0" parTransId="{6FB3316C-9AAD-4AE7-B5A5-B21C7A5286A1}" sibTransId="{7B4329E5-DD70-491C-951E-B0A4EF3AB2D2}"/>
    <dgm:cxn modelId="{4CB5D207-554E-4C30-9E7E-267BEFECB0FA}" type="presOf" srcId="{FD1A59A2-BAFB-430C-81F1-78647E2F3952}" destId="{4ADAEE74-4D98-4ACE-BBB1-CC5348ACFBE2}" srcOrd="0" destOrd="0" presId="urn:microsoft.com/office/officeart/2005/8/layout/cycle5"/>
    <dgm:cxn modelId="{206A7B14-9473-4211-B90E-F15103C12C36}" srcId="{A37151CB-0A78-42C9-9D69-CE921E14B171}" destId="{BDF1F72E-8326-4773-B265-4676B19D001A}" srcOrd="2" destOrd="0" parTransId="{2B9B850D-3C29-48E5-81E4-8525F5691738}" sibTransId="{D9C9C4C4-2045-41A1-9B67-1B32AEF144BE}"/>
    <dgm:cxn modelId="{556E1348-625B-4185-87DC-23811735F366}" type="presOf" srcId="{48B480BC-465F-41A4-A66C-C8871F50D707}" destId="{FB4E3B8F-6273-485E-AFE8-4D4D9055B433}" srcOrd="0" destOrd="0" presId="urn:microsoft.com/office/officeart/2005/8/layout/cycle5"/>
    <dgm:cxn modelId="{789A3F84-27C4-496C-A05E-330E0573D75F}" type="presOf" srcId="{D9C9C4C4-2045-41A1-9B67-1B32AEF144BE}" destId="{138120E2-77A9-425F-BAE6-80AA17219BCD}" srcOrd="0" destOrd="0" presId="urn:microsoft.com/office/officeart/2005/8/layout/cycle5"/>
    <dgm:cxn modelId="{396F6C84-812C-4C24-A825-0187604CAD2E}" type="presOf" srcId="{7B4329E5-DD70-491C-951E-B0A4EF3AB2D2}" destId="{FD385471-AD15-4593-90F4-7B620F4C0232}" srcOrd="0" destOrd="0" presId="urn:microsoft.com/office/officeart/2005/8/layout/cycle5"/>
    <dgm:cxn modelId="{DE726785-DE8D-4B75-8347-9679D76B740A}" type="presOf" srcId="{BDF1F72E-8326-4773-B265-4676B19D001A}" destId="{FAF2DEA4-3E50-4BF8-AA34-44FB6F6331AF}" srcOrd="0" destOrd="0" presId="urn:microsoft.com/office/officeart/2005/8/layout/cycle5"/>
    <dgm:cxn modelId="{5CBE39DE-6DC9-48A2-BD2B-06E0D6AD44CB}" type="presOf" srcId="{A37151CB-0A78-42C9-9D69-CE921E14B171}" destId="{2A4154BB-0FEC-467D-98E0-DFAB573AE904}" srcOrd="0" destOrd="0" presId="urn:microsoft.com/office/officeart/2005/8/layout/cycle5"/>
    <dgm:cxn modelId="{BD3F72F4-9792-4CEB-8600-61C9E071C3F6}" srcId="{A37151CB-0A78-42C9-9D69-CE921E14B171}" destId="{48B480BC-465F-41A4-A66C-C8871F50D707}" srcOrd="1" destOrd="0" parTransId="{E2845B20-87D0-469B-A4E1-3B5011117138}" sibTransId="{A09A6A23-C164-470C-A118-E6C4E6CBE41B}"/>
    <dgm:cxn modelId="{1C7C88FE-2186-45AD-9F50-26DC7E9172DC}" type="presOf" srcId="{A09A6A23-C164-470C-A118-E6C4E6CBE41B}" destId="{0F9AFFB2-DBA2-464B-B790-DB3A7D5B7D60}" srcOrd="0" destOrd="0" presId="urn:microsoft.com/office/officeart/2005/8/layout/cycle5"/>
    <dgm:cxn modelId="{09437440-C525-4021-8DD2-9BCDA0EA7F51}" type="presParOf" srcId="{2A4154BB-0FEC-467D-98E0-DFAB573AE904}" destId="{4ADAEE74-4D98-4ACE-BBB1-CC5348ACFBE2}" srcOrd="0" destOrd="0" presId="urn:microsoft.com/office/officeart/2005/8/layout/cycle5"/>
    <dgm:cxn modelId="{EA990AE4-14A6-4741-897D-75CBF1581100}" type="presParOf" srcId="{2A4154BB-0FEC-467D-98E0-DFAB573AE904}" destId="{9DAB0236-B103-4DA6-8F5A-ECA3FA23EE9B}" srcOrd="1" destOrd="0" presId="urn:microsoft.com/office/officeart/2005/8/layout/cycle5"/>
    <dgm:cxn modelId="{B18AA1C9-942A-49DE-AA39-8A3FC0501227}" type="presParOf" srcId="{2A4154BB-0FEC-467D-98E0-DFAB573AE904}" destId="{FD385471-AD15-4593-90F4-7B620F4C0232}" srcOrd="2" destOrd="0" presId="urn:microsoft.com/office/officeart/2005/8/layout/cycle5"/>
    <dgm:cxn modelId="{D2EEF3AC-686C-4D22-A253-EF15399A5556}" type="presParOf" srcId="{2A4154BB-0FEC-467D-98E0-DFAB573AE904}" destId="{FB4E3B8F-6273-485E-AFE8-4D4D9055B433}" srcOrd="3" destOrd="0" presId="urn:microsoft.com/office/officeart/2005/8/layout/cycle5"/>
    <dgm:cxn modelId="{29CD451E-C33B-4B39-AE9A-7107A393B9A2}" type="presParOf" srcId="{2A4154BB-0FEC-467D-98E0-DFAB573AE904}" destId="{9CA39CA5-839A-45D2-9705-219529642A04}" srcOrd="4" destOrd="0" presId="urn:microsoft.com/office/officeart/2005/8/layout/cycle5"/>
    <dgm:cxn modelId="{7DED5A3A-625A-4166-B97F-269F367BAE5C}" type="presParOf" srcId="{2A4154BB-0FEC-467D-98E0-DFAB573AE904}" destId="{0F9AFFB2-DBA2-464B-B790-DB3A7D5B7D60}" srcOrd="5" destOrd="0" presId="urn:microsoft.com/office/officeart/2005/8/layout/cycle5"/>
    <dgm:cxn modelId="{F80DBF7C-8B49-4025-803B-F213BBF91AA4}" type="presParOf" srcId="{2A4154BB-0FEC-467D-98E0-DFAB573AE904}" destId="{FAF2DEA4-3E50-4BF8-AA34-44FB6F6331AF}" srcOrd="6" destOrd="0" presId="urn:microsoft.com/office/officeart/2005/8/layout/cycle5"/>
    <dgm:cxn modelId="{84EDB201-7BE4-418E-89BF-EF6E49ABF8A1}" type="presParOf" srcId="{2A4154BB-0FEC-467D-98E0-DFAB573AE904}" destId="{80589AE6-45AE-4F09-A7E2-018193DBAA0E}" srcOrd="7" destOrd="0" presId="urn:microsoft.com/office/officeart/2005/8/layout/cycle5"/>
    <dgm:cxn modelId="{95AF9A41-71A4-4A05-BD99-5F3DFDE24091}" type="presParOf" srcId="{2A4154BB-0FEC-467D-98E0-DFAB573AE904}" destId="{138120E2-77A9-425F-BAE6-80AA17219BCD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771B1E-CBDB-4F2F-AF78-683BD50DA762}" type="doc">
      <dgm:prSet loTypeId="urn:microsoft.com/office/officeart/2005/8/layout/hProcess3" loCatId="process" qsTypeId="urn:microsoft.com/office/officeart/2005/8/quickstyle/3d3" qsCatId="3D" csTypeId="urn:microsoft.com/office/officeart/2005/8/colors/accent1_2" csCatId="accent1" phldr="1"/>
      <dgm:spPr/>
    </dgm:pt>
    <dgm:pt modelId="{F7F04F6E-7CF1-456F-8A63-69B55A6AD706}">
      <dgm:prSet phldrT="[Text]" custT="1"/>
      <dgm:spPr/>
      <dgm:t>
        <a:bodyPr/>
        <a:lstStyle/>
        <a:p>
          <a:r>
            <a:rPr lang="en-SG" sz="1800" dirty="0">
              <a:solidFill>
                <a:schemeClr val="bg1"/>
              </a:solidFill>
            </a:rPr>
            <a:t>Requirements</a:t>
          </a:r>
        </a:p>
      </dgm:t>
    </dgm:pt>
    <dgm:pt modelId="{79D4CBF7-6C21-46B7-82F9-242344A65EA7}" type="parTrans" cxnId="{3441CA68-6111-4A0C-AD25-8F33653BB9DB}">
      <dgm:prSet/>
      <dgm:spPr/>
      <dgm:t>
        <a:bodyPr/>
        <a:lstStyle/>
        <a:p>
          <a:endParaRPr lang="en-SG"/>
        </a:p>
      </dgm:t>
    </dgm:pt>
    <dgm:pt modelId="{11B73CDF-D108-4507-A2D8-6871D5DFEF43}" type="sibTrans" cxnId="{3441CA68-6111-4A0C-AD25-8F33653BB9DB}">
      <dgm:prSet/>
      <dgm:spPr/>
      <dgm:t>
        <a:bodyPr/>
        <a:lstStyle/>
        <a:p>
          <a:endParaRPr lang="en-SG"/>
        </a:p>
      </dgm:t>
    </dgm:pt>
    <dgm:pt modelId="{D4A3C373-4E6F-423B-B6E1-2F8B12743143}" type="pres">
      <dgm:prSet presAssocID="{42771B1E-CBDB-4F2F-AF78-683BD50DA762}" presName="Name0" presStyleCnt="0">
        <dgm:presLayoutVars>
          <dgm:dir/>
          <dgm:animLvl val="lvl"/>
          <dgm:resizeHandles val="exact"/>
        </dgm:presLayoutVars>
      </dgm:prSet>
      <dgm:spPr/>
    </dgm:pt>
    <dgm:pt modelId="{0D09652F-1DE9-400D-B95E-DB6C2F85CD21}" type="pres">
      <dgm:prSet presAssocID="{42771B1E-CBDB-4F2F-AF78-683BD50DA762}" presName="dummy" presStyleCnt="0"/>
      <dgm:spPr/>
    </dgm:pt>
    <dgm:pt modelId="{37311ECE-4E44-4ACE-A1B9-FC6E4E2C60A9}" type="pres">
      <dgm:prSet presAssocID="{42771B1E-CBDB-4F2F-AF78-683BD50DA762}" presName="linH" presStyleCnt="0"/>
      <dgm:spPr/>
    </dgm:pt>
    <dgm:pt modelId="{6CE5FA05-3F53-495B-854C-6B84DA26554E}" type="pres">
      <dgm:prSet presAssocID="{42771B1E-CBDB-4F2F-AF78-683BD50DA762}" presName="padding1" presStyleCnt="0"/>
      <dgm:spPr/>
    </dgm:pt>
    <dgm:pt modelId="{A071E52B-D1A9-49D1-8540-F72129A5E613}" type="pres">
      <dgm:prSet presAssocID="{F7F04F6E-7CF1-456F-8A63-69B55A6AD706}" presName="linV" presStyleCnt="0"/>
      <dgm:spPr/>
    </dgm:pt>
    <dgm:pt modelId="{86D139B5-67D0-44CD-A83A-430D352D4FC7}" type="pres">
      <dgm:prSet presAssocID="{F7F04F6E-7CF1-456F-8A63-69B55A6AD706}" presName="spVertical1" presStyleCnt="0"/>
      <dgm:spPr/>
    </dgm:pt>
    <dgm:pt modelId="{890AC1CC-FB19-4224-B972-A649E9BBD1D5}" type="pres">
      <dgm:prSet presAssocID="{F7F04F6E-7CF1-456F-8A63-69B55A6AD706}" presName="parTx" presStyleLbl="revTx" presStyleIdx="0" presStyleCnt="1" custLinFactY="23461" custLinFactNeighborX="-4977" custLinFactNeighborY="100000">
        <dgm:presLayoutVars>
          <dgm:chMax val="0"/>
          <dgm:chPref val="0"/>
          <dgm:bulletEnabled val="1"/>
        </dgm:presLayoutVars>
      </dgm:prSet>
      <dgm:spPr/>
    </dgm:pt>
    <dgm:pt modelId="{D7A44BD6-118C-49A8-9D83-D9FE60999ABA}" type="pres">
      <dgm:prSet presAssocID="{F7F04F6E-7CF1-456F-8A63-69B55A6AD706}" presName="spVertical2" presStyleCnt="0"/>
      <dgm:spPr/>
    </dgm:pt>
    <dgm:pt modelId="{725237F6-D7D1-4D6B-8612-0F0FF98ADCBA}" type="pres">
      <dgm:prSet presAssocID="{F7F04F6E-7CF1-456F-8A63-69B55A6AD706}" presName="spVertical3" presStyleCnt="0"/>
      <dgm:spPr/>
    </dgm:pt>
    <dgm:pt modelId="{C86BA962-20CE-4D3C-95C1-B3D1DF7397C3}" type="pres">
      <dgm:prSet presAssocID="{42771B1E-CBDB-4F2F-AF78-683BD50DA762}" presName="padding2" presStyleCnt="0"/>
      <dgm:spPr/>
    </dgm:pt>
    <dgm:pt modelId="{92B6EE26-FC28-4B57-8102-3E8E6BD1E156}" type="pres">
      <dgm:prSet presAssocID="{42771B1E-CBDB-4F2F-AF78-683BD50DA762}" presName="negArrow" presStyleCnt="0"/>
      <dgm:spPr/>
    </dgm:pt>
    <dgm:pt modelId="{7FEC3EE1-78CA-4AD8-8F98-FF998D50DCA5}" type="pres">
      <dgm:prSet presAssocID="{42771B1E-CBDB-4F2F-AF78-683BD50DA762}" presName="backgroundArrow" presStyleLbl="node1" presStyleIdx="0" presStyleCnt="1" custScaleY="176657" custLinFactNeighborX="-1569" custLinFactNeighborY="-36971"/>
      <dgm:spPr/>
    </dgm:pt>
  </dgm:ptLst>
  <dgm:cxnLst>
    <dgm:cxn modelId="{8420BC37-8EE0-4638-8635-24028DEB8151}" type="presOf" srcId="{F7F04F6E-7CF1-456F-8A63-69B55A6AD706}" destId="{890AC1CC-FB19-4224-B972-A649E9BBD1D5}" srcOrd="0" destOrd="0" presId="urn:microsoft.com/office/officeart/2005/8/layout/hProcess3"/>
    <dgm:cxn modelId="{3441CA68-6111-4A0C-AD25-8F33653BB9DB}" srcId="{42771B1E-CBDB-4F2F-AF78-683BD50DA762}" destId="{F7F04F6E-7CF1-456F-8A63-69B55A6AD706}" srcOrd="0" destOrd="0" parTransId="{79D4CBF7-6C21-46B7-82F9-242344A65EA7}" sibTransId="{11B73CDF-D108-4507-A2D8-6871D5DFEF43}"/>
    <dgm:cxn modelId="{32E0F4CB-C8F3-4009-B144-DCCA067DA1BE}" type="presOf" srcId="{42771B1E-CBDB-4F2F-AF78-683BD50DA762}" destId="{D4A3C373-4E6F-423B-B6E1-2F8B12743143}" srcOrd="0" destOrd="0" presId="urn:microsoft.com/office/officeart/2005/8/layout/hProcess3"/>
    <dgm:cxn modelId="{5BF81B92-9B5C-4CC1-B0D4-42B56A5A1060}" type="presParOf" srcId="{D4A3C373-4E6F-423B-B6E1-2F8B12743143}" destId="{0D09652F-1DE9-400D-B95E-DB6C2F85CD21}" srcOrd="0" destOrd="0" presId="urn:microsoft.com/office/officeart/2005/8/layout/hProcess3"/>
    <dgm:cxn modelId="{B642B25C-B8A4-4291-A661-0AE5CBAD3EF0}" type="presParOf" srcId="{D4A3C373-4E6F-423B-B6E1-2F8B12743143}" destId="{37311ECE-4E44-4ACE-A1B9-FC6E4E2C60A9}" srcOrd="1" destOrd="0" presId="urn:microsoft.com/office/officeart/2005/8/layout/hProcess3"/>
    <dgm:cxn modelId="{E715BAFB-6E2A-4118-A932-D69BB7BC3A0C}" type="presParOf" srcId="{37311ECE-4E44-4ACE-A1B9-FC6E4E2C60A9}" destId="{6CE5FA05-3F53-495B-854C-6B84DA26554E}" srcOrd="0" destOrd="0" presId="urn:microsoft.com/office/officeart/2005/8/layout/hProcess3"/>
    <dgm:cxn modelId="{4D898B46-4D77-488B-9116-53DF36A15E2E}" type="presParOf" srcId="{37311ECE-4E44-4ACE-A1B9-FC6E4E2C60A9}" destId="{A071E52B-D1A9-49D1-8540-F72129A5E613}" srcOrd="1" destOrd="0" presId="urn:microsoft.com/office/officeart/2005/8/layout/hProcess3"/>
    <dgm:cxn modelId="{C3062956-7F04-49B9-974C-66CB61EE9C40}" type="presParOf" srcId="{A071E52B-D1A9-49D1-8540-F72129A5E613}" destId="{86D139B5-67D0-44CD-A83A-430D352D4FC7}" srcOrd="0" destOrd="0" presId="urn:microsoft.com/office/officeart/2005/8/layout/hProcess3"/>
    <dgm:cxn modelId="{64C72EFB-DC8A-41BF-9B92-75E5C3435D67}" type="presParOf" srcId="{A071E52B-D1A9-49D1-8540-F72129A5E613}" destId="{890AC1CC-FB19-4224-B972-A649E9BBD1D5}" srcOrd="1" destOrd="0" presId="urn:microsoft.com/office/officeart/2005/8/layout/hProcess3"/>
    <dgm:cxn modelId="{F9C3CD3B-EED6-454B-8C30-506279296CEE}" type="presParOf" srcId="{A071E52B-D1A9-49D1-8540-F72129A5E613}" destId="{D7A44BD6-118C-49A8-9D83-D9FE60999ABA}" srcOrd="2" destOrd="0" presId="urn:microsoft.com/office/officeart/2005/8/layout/hProcess3"/>
    <dgm:cxn modelId="{C57B377F-DF56-4480-8AEB-ED5E32595254}" type="presParOf" srcId="{A071E52B-D1A9-49D1-8540-F72129A5E613}" destId="{725237F6-D7D1-4D6B-8612-0F0FF98ADCBA}" srcOrd="3" destOrd="0" presId="urn:microsoft.com/office/officeart/2005/8/layout/hProcess3"/>
    <dgm:cxn modelId="{2769B241-8A00-4F6D-ABD3-9653F0E20F8D}" type="presParOf" srcId="{37311ECE-4E44-4ACE-A1B9-FC6E4E2C60A9}" destId="{C86BA962-20CE-4D3C-95C1-B3D1DF7397C3}" srcOrd="2" destOrd="0" presId="urn:microsoft.com/office/officeart/2005/8/layout/hProcess3"/>
    <dgm:cxn modelId="{F84FB2FE-BDFD-4B91-9076-035F68238DA0}" type="presParOf" srcId="{37311ECE-4E44-4ACE-A1B9-FC6E4E2C60A9}" destId="{92B6EE26-FC28-4B57-8102-3E8E6BD1E156}" srcOrd="3" destOrd="0" presId="urn:microsoft.com/office/officeart/2005/8/layout/hProcess3"/>
    <dgm:cxn modelId="{3F9E0187-F531-47CA-8C7F-A2DBF3A6626B}" type="presParOf" srcId="{37311ECE-4E44-4ACE-A1B9-FC6E4E2C60A9}" destId="{7FEC3EE1-78CA-4AD8-8F98-FF998D50DCA5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DAEE74-4D98-4ACE-BBB1-CC5348ACFBE2}">
      <dsp:nvSpPr>
        <dsp:cNvPr id="0" name=""/>
        <dsp:cNvSpPr/>
      </dsp:nvSpPr>
      <dsp:spPr>
        <a:xfrm>
          <a:off x="4259126" y="943"/>
          <a:ext cx="1997347" cy="12982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 dirty="0"/>
            <a:t>Write code</a:t>
          </a:r>
        </a:p>
      </dsp:txBody>
      <dsp:txXfrm>
        <a:off x="4322503" y="64320"/>
        <a:ext cx="1870593" cy="1171522"/>
      </dsp:txXfrm>
    </dsp:sp>
    <dsp:sp modelId="{FD385471-AD15-4593-90F4-7B620F4C0232}">
      <dsp:nvSpPr>
        <dsp:cNvPr id="0" name=""/>
        <dsp:cNvSpPr/>
      </dsp:nvSpPr>
      <dsp:spPr>
        <a:xfrm>
          <a:off x="3527484" y="650081"/>
          <a:ext cx="3460630" cy="3460630"/>
        </a:xfrm>
        <a:custGeom>
          <a:avLst/>
          <a:gdLst/>
          <a:ahLst/>
          <a:cxnLst/>
          <a:rect l="0" t="0" r="0" b="0"/>
          <a:pathLst>
            <a:path>
              <a:moveTo>
                <a:pt x="2996640" y="551158"/>
              </a:moveTo>
              <a:arcTo wR="1730315" hR="1730315" stAng="19022485" swAng="230041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E3B8F-6273-485E-AFE8-4D4D9055B433}">
      <dsp:nvSpPr>
        <dsp:cNvPr id="0" name=""/>
        <dsp:cNvSpPr/>
      </dsp:nvSpPr>
      <dsp:spPr>
        <a:xfrm>
          <a:off x="5757623" y="2596416"/>
          <a:ext cx="1997347" cy="12982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 dirty="0"/>
            <a:t>Run code</a:t>
          </a:r>
        </a:p>
      </dsp:txBody>
      <dsp:txXfrm>
        <a:off x="5821000" y="2659793"/>
        <a:ext cx="1870593" cy="1171522"/>
      </dsp:txXfrm>
    </dsp:sp>
    <dsp:sp modelId="{0F9AFFB2-DBA2-464B-B790-DB3A7D5B7D60}">
      <dsp:nvSpPr>
        <dsp:cNvPr id="0" name=""/>
        <dsp:cNvSpPr/>
      </dsp:nvSpPr>
      <dsp:spPr>
        <a:xfrm>
          <a:off x="3527484" y="650081"/>
          <a:ext cx="3460630" cy="3460630"/>
        </a:xfrm>
        <a:custGeom>
          <a:avLst/>
          <a:gdLst/>
          <a:ahLst/>
          <a:cxnLst/>
          <a:rect l="0" t="0" r="0" b="0"/>
          <a:pathLst>
            <a:path>
              <a:moveTo>
                <a:pt x="2260637" y="3377357"/>
              </a:moveTo>
              <a:arcTo wR="1730315" hR="1730315" stAng="4329135" swAng="214172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F2DEA4-3E50-4BF8-AA34-44FB6F6331AF}">
      <dsp:nvSpPr>
        <dsp:cNvPr id="0" name=""/>
        <dsp:cNvSpPr/>
      </dsp:nvSpPr>
      <dsp:spPr>
        <a:xfrm>
          <a:off x="2760629" y="2596416"/>
          <a:ext cx="1997347" cy="12982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200" kern="1200" dirty="0"/>
            <a:t>Check output</a:t>
          </a:r>
        </a:p>
      </dsp:txBody>
      <dsp:txXfrm>
        <a:off x="2824006" y="2659793"/>
        <a:ext cx="1870593" cy="1171522"/>
      </dsp:txXfrm>
    </dsp:sp>
    <dsp:sp modelId="{138120E2-77A9-425F-BAE6-80AA17219BCD}">
      <dsp:nvSpPr>
        <dsp:cNvPr id="0" name=""/>
        <dsp:cNvSpPr/>
      </dsp:nvSpPr>
      <dsp:spPr>
        <a:xfrm>
          <a:off x="3527484" y="650081"/>
          <a:ext cx="3460630" cy="3460630"/>
        </a:xfrm>
        <a:custGeom>
          <a:avLst/>
          <a:gdLst/>
          <a:ahLst/>
          <a:cxnLst/>
          <a:rect l="0" t="0" r="0" b="0"/>
          <a:pathLst>
            <a:path>
              <a:moveTo>
                <a:pt x="5618" y="1590991"/>
              </a:moveTo>
              <a:arcTo wR="1730315" hR="1730315" stAng="11077105" swAng="230041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C3EE1-78CA-4AD8-8F98-FF998D50DCA5}">
      <dsp:nvSpPr>
        <dsp:cNvPr id="0" name=""/>
        <dsp:cNvSpPr/>
      </dsp:nvSpPr>
      <dsp:spPr>
        <a:xfrm>
          <a:off x="0" y="0"/>
          <a:ext cx="2143312" cy="2416667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0AC1CC-FB19-4224-B972-A649E9BBD1D5}">
      <dsp:nvSpPr>
        <dsp:cNvPr id="0" name=""/>
        <dsp:cNvSpPr/>
      </dsp:nvSpPr>
      <dsp:spPr>
        <a:xfrm>
          <a:off x="85487" y="859424"/>
          <a:ext cx="1756092" cy="6840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2880" rIns="0" bIns="1828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>
              <a:solidFill>
                <a:schemeClr val="bg1"/>
              </a:solidFill>
            </a:rPr>
            <a:t>Requirements</a:t>
          </a:r>
        </a:p>
      </dsp:txBody>
      <dsp:txXfrm>
        <a:off x="85487" y="859424"/>
        <a:ext cx="1756092" cy="68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DFFCD-E9F1-45E7-8917-F0CBD529773B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99D16-9CB3-494C-AD69-EC0FCFB8F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5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/>
            </a:lvl1pPr>
          </a:lstStyle>
          <a:p>
            <a:fld id="{6CBDAE0E-39A9-6646-8BD9-E0FC1AF7CC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6" rIns="91413" bIns="4570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13" tIns="45706" rIns="91413" bIns="4570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0092"/>
            <a:ext cx="2945659" cy="496411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30092"/>
            <a:ext cx="2945659" cy="496411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/>
            </a:lvl1pPr>
          </a:lstStyle>
          <a:p>
            <a:fld id="{AD991AB6-8DFA-254C-82F3-E3265B55E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69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91AB6-8DFA-254C-82F3-E3265B55E5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8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91AB6-8DFA-254C-82F3-E3265B55E5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64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considerations:</a:t>
            </a:r>
          </a:p>
          <a:p>
            <a:pPr marL="171450" indent="-171450">
              <a:buFontTx/>
              <a:buChar char="-"/>
            </a:pPr>
            <a:r>
              <a:rPr lang="en-US" dirty="0"/>
              <a:t>Implementation speed (developer experience)</a:t>
            </a:r>
          </a:p>
          <a:p>
            <a:pPr marL="171450" indent="-171450">
              <a:buFontTx/>
              <a:buChar char="-"/>
            </a:pPr>
            <a:r>
              <a:rPr lang="en-US" dirty="0"/>
              <a:t>Execution speed (compute performance)</a:t>
            </a:r>
          </a:p>
          <a:p>
            <a:pPr marL="171450" indent="-171450">
              <a:buFontTx/>
              <a:buChar char="-"/>
            </a:pPr>
            <a:r>
              <a:rPr lang="en-US" dirty="0"/>
              <a:t>Safety (memory safety)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91AB6-8DFA-254C-82F3-E3265B55E5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6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_template_SGH_Pathology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7464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116736" y="87575"/>
            <a:ext cx="1839189" cy="1264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15602" y="2130425"/>
            <a:ext cx="5091545" cy="1298307"/>
          </a:xfrm>
        </p:spPr>
        <p:txBody>
          <a:bodyPr/>
          <a:lstStyle>
            <a:lvl1pPr algn="l">
              <a:defRPr sz="4400">
                <a:solidFill>
                  <a:srgbClr val="EE6000"/>
                </a:solidFill>
              </a:defRPr>
            </a:lvl1pPr>
          </a:lstStyle>
          <a:p>
            <a:r>
              <a:rPr lang="en-US" sz="4200" b="1" dirty="0">
                <a:solidFill>
                  <a:srgbClr val="F471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add title</a:t>
            </a:r>
            <a:endParaRPr lang="en-SG" sz="4200" b="1" dirty="0">
              <a:solidFill>
                <a:srgbClr val="F4711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624076" y="3886200"/>
            <a:ext cx="5262499" cy="857250"/>
          </a:xfrm>
        </p:spPr>
        <p:txBody>
          <a:bodyPr>
            <a:normAutofit/>
          </a:bodyPr>
          <a:lstStyle>
            <a:lvl1pPr marL="0" indent="0" algn="l">
              <a:buNone/>
              <a:defRPr sz="13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Designation, Department</a:t>
            </a:r>
          </a:p>
          <a:p>
            <a:r>
              <a:rPr lang="en-US" dirty="0"/>
              <a:t>Date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248717" y="248717"/>
            <a:ext cx="2384755" cy="8631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4811" y="87575"/>
            <a:ext cx="1463040" cy="94613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457" y="5598914"/>
            <a:ext cx="1737360" cy="873557"/>
          </a:xfrm>
          <a:prstGeom prst="rect">
            <a:avLst/>
          </a:prstGeom>
        </p:spPr>
      </p:pic>
      <p:grpSp>
        <p:nvGrpSpPr>
          <p:cNvPr id="14" name="Group 13"/>
          <p:cNvGrpSpPr/>
          <p:nvPr userDrawn="1"/>
        </p:nvGrpSpPr>
        <p:grpSpPr>
          <a:xfrm>
            <a:off x="182457" y="560643"/>
            <a:ext cx="6585888" cy="576064"/>
            <a:chOff x="188640" y="8460432"/>
            <a:chExt cx="6585888" cy="576064"/>
          </a:xfrm>
        </p:grpSpPr>
        <p:grpSp>
          <p:nvGrpSpPr>
            <p:cNvPr id="15" name="Group 14"/>
            <p:cNvGrpSpPr/>
            <p:nvPr/>
          </p:nvGrpSpPr>
          <p:grpSpPr>
            <a:xfrm>
              <a:off x="188640" y="8460432"/>
              <a:ext cx="4924394" cy="576064"/>
              <a:chOff x="44624" y="8626043"/>
              <a:chExt cx="4924394" cy="576064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5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703656" y="8626043"/>
                <a:ext cx="1581328" cy="548640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6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73016" y="8677408"/>
                <a:ext cx="1396002" cy="365854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7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-1" b="-4998"/>
              <a:stretch/>
            </p:blipFill>
            <p:spPr>
              <a:xfrm>
                <a:off x="44624" y="8626043"/>
                <a:ext cx="1457027" cy="576064"/>
              </a:xfrm>
              <a:prstGeom prst="rect">
                <a:avLst/>
              </a:prstGeom>
            </p:spPr>
          </p:pic>
        </p:grp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8" cstate="screen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01066" y="8511797"/>
              <a:ext cx="1373462" cy="4297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956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63C2-5B4B-CB42-82C6-1BB04A5A025C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E8EE-6998-AD46-86FA-E7575AF4FDD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530225" y="1524000"/>
            <a:ext cx="7994650" cy="4219575"/>
          </a:xfrm>
        </p:spPr>
        <p:txBody>
          <a:bodyPr/>
          <a:lstStyle>
            <a:lvl1pPr>
              <a:defRPr sz="3100">
                <a:latin typeface="+mn-lt"/>
                <a:cs typeface="Arial" panose="020B0604020202020204" pitchFamily="34" charset="0"/>
              </a:defRPr>
            </a:lvl1pPr>
            <a:lvl2pPr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2474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7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63C2-5B4B-CB42-82C6-1BB04A5A025C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8288" y="6607175"/>
            <a:ext cx="3657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9E075C-88DA-4218-8424-EC2FC6139FE1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21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63C2-5B4B-CB42-82C6-1BB04A5A025C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E8EE-6998-AD46-86FA-E7575AF4FDD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5446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1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1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63C2-5B4B-CB42-82C6-1BB04A5A025C}" type="datetimeFigureOut">
              <a:rPr lang="en-US" smtClean="0"/>
              <a:t>8/21/25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E8EE-6998-AD46-86FA-E7575AF4FDD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457200" y="22066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1" kern="120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800" dirty="0"/>
              <a:t>Click to edit Master title style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4649788" y="2174875"/>
            <a:ext cx="4040188" cy="3951288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9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7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030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63C2-5B4B-CB42-82C6-1BB04A5A025C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E8EE-6998-AD46-86FA-E7575AF4FDD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28625" y="371474"/>
            <a:ext cx="8210550" cy="720725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91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25" y="371474"/>
            <a:ext cx="8210550" cy="720725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0"/>
            <a:ext cx="5111750" cy="5853113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63C2-5B4B-CB42-82C6-1BB04A5A025C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E8EE-6998-AD46-86FA-E7575AF4F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3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63C2-5B4B-CB42-82C6-1BB04A5A025C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CE8EE-6998-AD46-86FA-E7575AF4F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06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7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3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313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34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432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523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12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272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8445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107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22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Pathology.jpg"/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2571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8150" y="1889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63C2-5B4B-CB42-82C6-1BB04A5A025C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CE8EE-6998-AD46-86FA-E7575AF4FDD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8288" y="6607175"/>
            <a:ext cx="3657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E9E075C-88DA-4218-8424-EC2FC6139FE1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9" name="Rectangle 8"/>
          <p:cNvSpPr/>
          <p:nvPr userDrawn="1"/>
        </p:nvSpPr>
        <p:spPr>
          <a:xfrm>
            <a:off x="546229" y="1056109"/>
            <a:ext cx="8111996" cy="77366"/>
          </a:xfrm>
          <a:prstGeom prst="rect">
            <a:avLst/>
          </a:prstGeom>
          <a:solidFill>
            <a:srgbClr val="F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Footer Placeholder 2"/>
          <p:cNvSpPr txBox="1">
            <a:spLocks/>
          </p:cNvSpPr>
          <p:nvPr userDrawn="1"/>
        </p:nvSpPr>
        <p:spPr>
          <a:xfrm>
            <a:off x="3650232" y="6581736"/>
            <a:ext cx="1843536" cy="2406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200" b="1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0" dirty="0"/>
              <a:t> Restricted, Sensitive (Normal)</a:t>
            </a:r>
          </a:p>
        </p:txBody>
      </p:sp>
    </p:spTree>
    <p:extLst>
      <p:ext uri="{BB962C8B-B14F-4D97-AF65-F5344CB8AC3E}">
        <p14:creationId xmlns:p14="http://schemas.microsoft.com/office/powerpoint/2010/main" val="247579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2" r:id="rId4"/>
    <p:sldLayoutId id="2147483653" r:id="rId5"/>
    <p:sldLayoutId id="2147483654" r:id="rId6"/>
    <p:sldLayoutId id="2147483656" r:id="rId7"/>
    <p:sldLayoutId id="214748365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rgbClr val="00206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A4BB7015-2263-4D87-AC71-F4A197B11A6F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914400"/>
              <a:t>21/08/2025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C07DD724-81C4-4A94-8FE3-7469D8A13215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8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jeremy-duke-nus.github.io/python-workshop/07-lunch" TargetMode="External"/><Relationship Id="rId3" Type="http://schemas.openxmlformats.org/officeDocument/2006/relationships/hyperlink" Target="https://jeremy-duke-nus.github.io/python-workshop/02-installations" TargetMode="External"/><Relationship Id="rId7" Type="http://schemas.openxmlformats.org/officeDocument/2006/relationships/hyperlink" Target="https://jeremy-duke-nus.github.io/python-workshop/06-introduction-to-datatypes" TargetMode="External"/><Relationship Id="rId2" Type="http://schemas.openxmlformats.org/officeDocument/2006/relationships/hyperlink" Target="https://jeremy-duke-nus.github.io/python-workshop/01-introduc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eremy-duke-nus.github.io/python-workshop/05-variables" TargetMode="External"/><Relationship Id="rId5" Type="http://schemas.openxmlformats.org/officeDocument/2006/relationships/hyperlink" Target="https://jeremy-duke-nus.github.io/python-workshop/04-break" TargetMode="External"/><Relationship Id="rId4" Type="http://schemas.openxmlformats.org/officeDocument/2006/relationships/hyperlink" Target="https://jeremy-duke-nus.github.io/python-workshop/03-libraries" TargetMode="External"/><Relationship Id="rId9" Type="http://schemas.openxmlformats.org/officeDocument/2006/relationships/hyperlink" Target="https://jeremy-duke-nus.github.io/python-workshop/08-performing-your-first-query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jeremy-duke-nus.github.io/python-workshop/10-working-with-numeric-data" TargetMode="External"/><Relationship Id="rId7" Type="http://schemas.openxmlformats.org/officeDocument/2006/relationships/hyperlink" Target="https://jeremy-duke-nus.github.io/python-workshop/14-day1-wrapup" TargetMode="External"/><Relationship Id="rId2" Type="http://schemas.openxmlformats.org/officeDocument/2006/relationships/hyperlink" Target="https://jeremy-duke-nus.github.io/python-workshop/09-working-with-lis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eremy-duke-nus.github.io/python-workshop/13-conditional-logic" TargetMode="External"/><Relationship Id="rId5" Type="http://schemas.openxmlformats.org/officeDocument/2006/relationships/hyperlink" Target="https://jeremy-duke-nus.github.io/python-workshop/12-booleans" TargetMode="External"/><Relationship Id="rId4" Type="http://schemas.openxmlformats.org/officeDocument/2006/relationships/hyperlink" Target="https://jeremy-duke-nus.github.io/python-workshop/11-brea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eremy-duke-nus.github.io/python-workshop/16-functions" TargetMode="External"/><Relationship Id="rId2" Type="http://schemas.openxmlformats.org/officeDocument/2006/relationships/hyperlink" Target="https://jeremy-duke-nus.github.io/python-workshop/15-refresh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eremy-duke-nus.github.io/python-workshop/19-lunch" TargetMode="External"/><Relationship Id="rId5" Type="http://schemas.openxmlformats.org/officeDocument/2006/relationships/hyperlink" Target="https://jeremy-duke-nus.github.io/python-workshop/18-error-handling" TargetMode="External"/><Relationship Id="rId4" Type="http://schemas.openxmlformats.org/officeDocument/2006/relationships/hyperlink" Target="https://jeremy-duke-nus.github.io/python-workshop/17-brea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eremy-duke-nus.github.io/python-workshop/21-working-with-files" TargetMode="External"/><Relationship Id="rId2" Type="http://schemas.openxmlformats.org/officeDocument/2006/relationships/hyperlink" Target="https://jeremy-duke-nus.github.io/python-workshop/20-automating-cod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eremy-duke-nus.github.io/python-workshop/24-next-steps" TargetMode="External"/><Relationship Id="rId5" Type="http://schemas.openxmlformats.org/officeDocument/2006/relationships/hyperlink" Target="https://jeremy-duke-nus.github.io/python-workshop/23-putting-it-altogether" TargetMode="External"/><Relationship Id="rId4" Type="http://schemas.openxmlformats.org/officeDocument/2006/relationships/hyperlink" Target="https://jeremy-duke-nus.github.io/python-workshop/22-brea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9087" y="1950911"/>
            <a:ext cx="7992206" cy="1298307"/>
          </a:xfrm>
        </p:spPr>
        <p:txBody>
          <a:bodyPr>
            <a:noAutofit/>
          </a:bodyPr>
          <a:lstStyle/>
          <a:p>
            <a:pPr algn="ctr"/>
            <a:r>
              <a:rPr lang="en-SG" sz="4000" dirty="0"/>
              <a:t>Introduction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6811" y="3620736"/>
            <a:ext cx="5262499" cy="857250"/>
          </a:xfrm>
        </p:spPr>
        <p:txBody>
          <a:bodyPr>
            <a:normAutofit/>
          </a:bodyPr>
          <a:lstStyle/>
          <a:p>
            <a:r>
              <a:rPr lang="en-SG" dirty="0"/>
              <a:t>Ng Wee Kiat Jeremy, PhD</a:t>
            </a:r>
          </a:p>
          <a:p>
            <a:r>
              <a:rPr lang="en-SG" dirty="0"/>
              <a:t>Anatomical Molecular Laboratory (ATOM)</a:t>
            </a:r>
          </a:p>
          <a:p>
            <a:r>
              <a:rPr lang="en-SG" dirty="0"/>
              <a:t>Singapore General Hospital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624076" y="3024160"/>
            <a:ext cx="6142228" cy="24384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2"/>
          <p:cNvSpPr txBox="1">
            <a:spLocks/>
          </p:cNvSpPr>
          <p:nvPr/>
        </p:nvSpPr>
        <p:spPr>
          <a:xfrm>
            <a:off x="3443000" y="125426"/>
            <a:ext cx="2258001" cy="24068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200" b="1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 Restricted, Sensitive (Normal)</a:t>
            </a:r>
          </a:p>
        </p:txBody>
      </p:sp>
    </p:spTree>
    <p:extLst>
      <p:ext uri="{BB962C8B-B14F-4D97-AF65-F5344CB8AC3E}">
        <p14:creationId xmlns:p14="http://schemas.microsoft.com/office/powerpoint/2010/main" val="164916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han Chee Seng">
            <a:extLst>
              <a:ext uri="{FF2B5EF4-FFF2-40B4-BE49-F238E27FC236}">
                <a16:creationId xmlns:a16="http://schemas.microsoft.com/office/drawing/2014/main" id="{71D13CFA-980E-4569-4BBD-61355AC26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0" r="3881"/>
          <a:stretch>
            <a:fillRect/>
          </a:stretch>
        </p:blipFill>
        <p:spPr bwMode="auto">
          <a:xfrm>
            <a:off x="2463020" y="1372462"/>
            <a:ext cx="1228933" cy="1261032"/>
          </a:xfrm>
          <a:custGeom>
            <a:avLst/>
            <a:gdLst>
              <a:gd name="connsiteX0" fmla="*/ 594442 w 1228933"/>
              <a:gd name="connsiteY0" fmla="*/ 0 h 1261032"/>
              <a:gd name="connsiteX1" fmla="*/ 1228933 w 1228933"/>
              <a:gd name="connsiteY1" fmla="*/ 642304 h 1261032"/>
              <a:gd name="connsiteX2" fmla="*/ 841415 w 1228933"/>
              <a:gd name="connsiteY2" fmla="*/ 1234133 h 1261032"/>
              <a:gd name="connsiteX3" fmla="*/ 755813 w 1228933"/>
              <a:gd name="connsiteY3" fmla="*/ 1261032 h 1261032"/>
              <a:gd name="connsiteX4" fmla="*/ 433071 w 1228933"/>
              <a:gd name="connsiteY4" fmla="*/ 1261032 h 1261032"/>
              <a:gd name="connsiteX5" fmla="*/ 347469 w 1228933"/>
              <a:gd name="connsiteY5" fmla="*/ 1234133 h 1261032"/>
              <a:gd name="connsiteX6" fmla="*/ 9812 w 1228933"/>
              <a:gd name="connsiteY6" fmla="*/ 892318 h 1261032"/>
              <a:gd name="connsiteX7" fmla="*/ 0 w 1228933"/>
              <a:gd name="connsiteY7" fmla="*/ 860318 h 1261032"/>
              <a:gd name="connsiteX8" fmla="*/ 0 w 1228933"/>
              <a:gd name="connsiteY8" fmla="*/ 424290 h 1261032"/>
              <a:gd name="connsiteX9" fmla="*/ 9812 w 1228933"/>
              <a:gd name="connsiteY9" fmla="*/ 392290 h 1261032"/>
              <a:gd name="connsiteX10" fmla="*/ 594442 w 1228933"/>
              <a:gd name="connsiteY10" fmla="*/ 0 h 1261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8933" h="1261032">
                <a:moveTo>
                  <a:pt x="594442" y="0"/>
                </a:moveTo>
                <a:cubicBezTo>
                  <a:pt x="944862" y="0"/>
                  <a:pt x="1228933" y="287569"/>
                  <a:pt x="1228933" y="642304"/>
                </a:cubicBezTo>
                <a:cubicBezTo>
                  <a:pt x="1228933" y="908355"/>
                  <a:pt x="1069143" y="1136626"/>
                  <a:pt x="841415" y="1234133"/>
                </a:cubicBezTo>
                <a:lnTo>
                  <a:pt x="755813" y="1261032"/>
                </a:lnTo>
                <a:lnTo>
                  <a:pt x="433071" y="1261032"/>
                </a:lnTo>
                <a:lnTo>
                  <a:pt x="347469" y="1234133"/>
                </a:lnTo>
                <a:cubicBezTo>
                  <a:pt x="195650" y="1169128"/>
                  <a:pt x="74026" y="1046006"/>
                  <a:pt x="9812" y="892318"/>
                </a:cubicBezTo>
                <a:lnTo>
                  <a:pt x="0" y="860318"/>
                </a:lnTo>
                <a:lnTo>
                  <a:pt x="0" y="424290"/>
                </a:lnTo>
                <a:lnTo>
                  <a:pt x="9812" y="392290"/>
                </a:lnTo>
                <a:cubicBezTo>
                  <a:pt x="106133" y="161758"/>
                  <a:pt x="331627" y="0"/>
                  <a:pt x="59444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033BE73D-2E6F-E80C-871F-00901F72AC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04"/>
          <a:stretch>
            <a:fillRect/>
          </a:stretch>
        </p:blipFill>
        <p:spPr>
          <a:xfrm>
            <a:off x="4608569" y="1433562"/>
            <a:ext cx="1032647" cy="1284608"/>
          </a:xfrm>
          <a:custGeom>
            <a:avLst/>
            <a:gdLst>
              <a:gd name="connsiteX0" fmla="*/ 572585 w 1145169"/>
              <a:gd name="connsiteY0" fmla="*/ 0 h 1424585"/>
              <a:gd name="connsiteX1" fmla="*/ 1112864 w 1145169"/>
              <a:gd name="connsiteY1" fmla="*/ 212564 h 1424585"/>
              <a:gd name="connsiteX2" fmla="*/ 1145169 w 1145169"/>
              <a:gd name="connsiteY2" fmla="*/ 249754 h 1424585"/>
              <a:gd name="connsiteX3" fmla="*/ 1145169 w 1145169"/>
              <a:gd name="connsiteY3" fmla="*/ 1201722 h 1424585"/>
              <a:gd name="connsiteX4" fmla="*/ 1112864 w 1145169"/>
              <a:gd name="connsiteY4" fmla="*/ 1238912 h 1424585"/>
              <a:gd name="connsiteX5" fmla="*/ 869995 w 1145169"/>
              <a:gd name="connsiteY5" fmla="*/ 1394444 h 1424585"/>
              <a:gd name="connsiteX6" fmla="*/ 767768 w 1145169"/>
              <a:gd name="connsiteY6" fmla="*/ 1424585 h 1424585"/>
              <a:gd name="connsiteX7" fmla="*/ 377402 w 1145169"/>
              <a:gd name="connsiteY7" fmla="*/ 1424585 h 1424585"/>
              <a:gd name="connsiteX8" fmla="*/ 275175 w 1145169"/>
              <a:gd name="connsiteY8" fmla="*/ 1394444 h 1424585"/>
              <a:gd name="connsiteX9" fmla="*/ 32307 w 1145169"/>
              <a:gd name="connsiteY9" fmla="*/ 1238912 h 1424585"/>
              <a:gd name="connsiteX10" fmla="*/ 0 w 1145169"/>
              <a:gd name="connsiteY10" fmla="*/ 1201721 h 1424585"/>
              <a:gd name="connsiteX11" fmla="*/ 0 w 1145169"/>
              <a:gd name="connsiteY11" fmla="*/ 249756 h 1424585"/>
              <a:gd name="connsiteX12" fmla="*/ 32307 w 1145169"/>
              <a:gd name="connsiteY12" fmla="*/ 212564 h 1424585"/>
              <a:gd name="connsiteX13" fmla="*/ 572585 w 1145169"/>
              <a:gd name="connsiteY13" fmla="*/ 0 h 142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45169" h="1424585">
                <a:moveTo>
                  <a:pt x="572585" y="0"/>
                </a:moveTo>
                <a:cubicBezTo>
                  <a:pt x="783577" y="0"/>
                  <a:pt x="974594" y="81231"/>
                  <a:pt x="1112864" y="212564"/>
                </a:cubicBezTo>
                <a:lnTo>
                  <a:pt x="1145169" y="249754"/>
                </a:lnTo>
                <a:lnTo>
                  <a:pt x="1145169" y="1201722"/>
                </a:lnTo>
                <a:lnTo>
                  <a:pt x="1112864" y="1238912"/>
                </a:lnTo>
                <a:cubicBezTo>
                  <a:pt x="1043729" y="1304579"/>
                  <a:pt x="961407" y="1357720"/>
                  <a:pt x="869995" y="1394444"/>
                </a:cubicBezTo>
                <a:lnTo>
                  <a:pt x="767768" y="1424585"/>
                </a:lnTo>
                <a:lnTo>
                  <a:pt x="377402" y="1424585"/>
                </a:lnTo>
                <a:lnTo>
                  <a:pt x="275175" y="1394444"/>
                </a:lnTo>
                <a:cubicBezTo>
                  <a:pt x="183763" y="1357720"/>
                  <a:pt x="101441" y="1304579"/>
                  <a:pt x="32307" y="1238912"/>
                </a:cubicBezTo>
                <a:lnTo>
                  <a:pt x="0" y="1201721"/>
                </a:lnTo>
                <a:lnTo>
                  <a:pt x="0" y="249756"/>
                </a:lnTo>
                <a:lnTo>
                  <a:pt x="32307" y="212564"/>
                </a:lnTo>
                <a:cubicBezTo>
                  <a:pt x="170576" y="81231"/>
                  <a:pt x="361593" y="0"/>
                  <a:pt x="572585" y="0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D8DDDC-F1DD-66FB-43FF-8A246EF5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Facilitators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A1029F-4A97-3FD7-0008-0E67BD5DD4F0}"/>
              </a:ext>
            </a:extLst>
          </p:cNvPr>
          <p:cNvSpPr txBox="1">
            <a:spLocks/>
          </p:cNvSpPr>
          <p:nvPr/>
        </p:nvSpPr>
        <p:spPr>
          <a:xfrm>
            <a:off x="250626" y="2841871"/>
            <a:ext cx="2282764" cy="43822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2900" dirty="0">
                <a:solidFill>
                  <a:prstClr val="black"/>
                </a:solidFill>
              </a:rPr>
              <a:t>Jeremy 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CCDC2-6D95-3986-C27C-0030EB214255}"/>
              </a:ext>
            </a:extLst>
          </p:cNvPr>
          <p:cNvSpPr txBox="1">
            <a:spLocks/>
          </p:cNvSpPr>
          <p:nvPr/>
        </p:nvSpPr>
        <p:spPr>
          <a:xfrm>
            <a:off x="2325805" y="2860915"/>
            <a:ext cx="2282764" cy="49408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2900" dirty="0">
                <a:solidFill>
                  <a:prstClr val="black"/>
                </a:solidFill>
              </a:rPr>
              <a:t>Chan Chee Seng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B3CDD-4D35-3347-9213-FE68A3861EF9}"/>
              </a:ext>
            </a:extLst>
          </p:cNvPr>
          <p:cNvSpPr txBox="1"/>
          <p:nvPr/>
        </p:nvSpPr>
        <p:spPr>
          <a:xfrm>
            <a:off x="280038" y="3577908"/>
            <a:ext cx="206393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700" dirty="0"/>
              <a:t>Senior Bioinformatician @ ATOM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AE126-03BC-D9E4-C244-7BA69FB737D4}"/>
              </a:ext>
            </a:extLst>
          </p:cNvPr>
          <p:cNvSpPr txBox="1"/>
          <p:nvPr/>
        </p:nvSpPr>
        <p:spPr>
          <a:xfrm>
            <a:off x="2325805" y="3564161"/>
            <a:ext cx="193088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700" dirty="0"/>
              <a:t>Senior Bioinformatician @ ATOM</a:t>
            </a:r>
          </a:p>
        </p:txBody>
      </p:sp>
      <p:pic>
        <p:nvPicPr>
          <p:cNvPr id="8" name="Picture 7" descr="A person sitting next to a deer&#10;&#10;Description automatically generated">
            <a:extLst>
              <a:ext uri="{FF2B5EF4-FFF2-40B4-BE49-F238E27FC236}">
                <a16:creationId xmlns:a16="http://schemas.microsoft.com/office/drawing/2014/main" id="{C6796027-21B7-DA90-4B74-166173F4D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38" y="1400439"/>
            <a:ext cx="1387329" cy="1317731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51445A0-F2F9-0BFB-DC1B-63798DF05B28}"/>
              </a:ext>
            </a:extLst>
          </p:cNvPr>
          <p:cNvSpPr txBox="1">
            <a:spLocks/>
          </p:cNvSpPr>
          <p:nvPr/>
        </p:nvSpPr>
        <p:spPr>
          <a:xfrm>
            <a:off x="4566079" y="2860915"/>
            <a:ext cx="2282764" cy="49408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2900" dirty="0">
                <a:solidFill>
                  <a:prstClr val="black"/>
                </a:solidFill>
              </a:rPr>
              <a:t>Natalia Fernandez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03532E-7F9D-991C-D6B0-D8847495C629}"/>
              </a:ext>
            </a:extLst>
          </p:cNvPr>
          <p:cNvSpPr txBox="1"/>
          <p:nvPr/>
        </p:nvSpPr>
        <p:spPr>
          <a:xfrm>
            <a:off x="4566079" y="3564161"/>
            <a:ext cx="193088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700" dirty="0"/>
              <a:t>Executive @ Artificial Intelligence &amp; Automation (AIA)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412BDA4-61A7-E7A5-3494-65F391BE9B98}"/>
              </a:ext>
            </a:extLst>
          </p:cNvPr>
          <p:cNvSpPr txBox="1">
            <a:spLocks/>
          </p:cNvSpPr>
          <p:nvPr/>
        </p:nvSpPr>
        <p:spPr>
          <a:xfrm>
            <a:off x="6690322" y="2860915"/>
            <a:ext cx="2282764" cy="49408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600"/>
              </a:spcBef>
              <a:buNone/>
            </a:pPr>
            <a:r>
              <a:rPr lang="en-US" sz="2900" dirty="0">
                <a:solidFill>
                  <a:prstClr val="black"/>
                </a:solidFill>
              </a:rPr>
              <a:t>Lakshmi Alagappan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1A9951-461F-9F84-7F0A-97006A8E9E09}"/>
              </a:ext>
            </a:extLst>
          </p:cNvPr>
          <p:cNvSpPr txBox="1"/>
          <p:nvPr/>
        </p:nvSpPr>
        <p:spPr>
          <a:xfrm>
            <a:off x="6690322" y="3564161"/>
            <a:ext cx="193088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700" dirty="0"/>
              <a:t>Research Fellow @ NCCS)</a:t>
            </a:r>
          </a:p>
        </p:txBody>
      </p:sp>
    </p:spTree>
    <p:extLst>
      <p:ext uri="{BB962C8B-B14F-4D97-AF65-F5344CB8AC3E}">
        <p14:creationId xmlns:p14="http://schemas.microsoft.com/office/powerpoint/2010/main" val="2327257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746D-F255-FBEF-3C1D-073AC09F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Overview- Day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77E069-D28F-1E87-1C75-4A7E69B78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248719"/>
              </p:ext>
            </p:extLst>
          </p:nvPr>
        </p:nvGraphicFramePr>
        <p:xfrm>
          <a:off x="636333" y="1180319"/>
          <a:ext cx="8031418" cy="4540496"/>
        </p:xfrm>
        <a:graphic>
          <a:graphicData uri="http://schemas.openxmlformats.org/drawingml/2006/table">
            <a:tbl>
              <a:tblPr/>
              <a:tblGrid>
                <a:gridCol w="669285">
                  <a:extLst>
                    <a:ext uri="{9D8B030D-6E8A-4147-A177-3AD203B41FA5}">
                      <a16:colId xmlns:a16="http://schemas.microsoft.com/office/drawing/2014/main" val="3016790442"/>
                    </a:ext>
                  </a:extLst>
                </a:gridCol>
                <a:gridCol w="669285">
                  <a:extLst>
                    <a:ext uri="{9D8B030D-6E8A-4147-A177-3AD203B41FA5}">
                      <a16:colId xmlns:a16="http://schemas.microsoft.com/office/drawing/2014/main" val="2538533881"/>
                    </a:ext>
                  </a:extLst>
                </a:gridCol>
                <a:gridCol w="2007854">
                  <a:extLst>
                    <a:ext uri="{9D8B030D-6E8A-4147-A177-3AD203B41FA5}">
                      <a16:colId xmlns:a16="http://schemas.microsoft.com/office/drawing/2014/main" val="4047715036"/>
                    </a:ext>
                  </a:extLst>
                </a:gridCol>
                <a:gridCol w="4684994">
                  <a:extLst>
                    <a:ext uri="{9D8B030D-6E8A-4147-A177-3AD203B41FA5}">
                      <a16:colId xmlns:a16="http://schemas.microsoft.com/office/drawing/2014/main" val="23883557"/>
                    </a:ext>
                  </a:extLst>
                </a:gridCol>
              </a:tblGrid>
              <a:tr h="4169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b="1">
                          <a:effectLst/>
                        </a:rPr>
                        <a:t>Day 1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09:00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 dirty="0">
                          <a:solidFill>
                            <a:srgbClr val="1AA4DA"/>
                          </a:solidFill>
                          <a:effectLst/>
                          <a:hlinkClick r:id="rId2"/>
                        </a:rPr>
                        <a:t>Information exchange on the internet</a:t>
                      </a:r>
                      <a:endParaRPr lang="en-SG" sz="1400" dirty="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What exactly is the internet?</a:t>
                      </a:r>
                      <a:br>
                        <a:rPr lang="en-SG" sz="1400">
                          <a:effectLst/>
                        </a:rPr>
                      </a:br>
                      <a:r>
                        <a:rPr lang="en-SG" sz="1400">
                          <a:effectLst/>
                        </a:rPr>
                        <a:t>How is information exchanged on the internet?</a:t>
                      </a:r>
                      <a:br>
                        <a:rPr lang="en-SG" sz="1400">
                          <a:effectLst/>
                        </a:rPr>
                      </a:br>
                      <a:r>
                        <a:rPr lang="en-SG" sz="1400">
                          <a:effectLst/>
                        </a:rPr>
                        <a:t>Why APIs?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932107"/>
                  </a:ext>
                </a:extLst>
              </a:tr>
              <a:tr h="29966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09:25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3"/>
                        </a:rPr>
                        <a:t>Getting started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What is the dataset that we are working with?</a:t>
                      </a:r>
                      <a:br>
                        <a:rPr lang="en-SG" sz="1400">
                          <a:effectLst/>
                        </a:rPr>
                      </a:br>
                      <a:r>
                        <a:rPr lang="en-SG" sz="1400">
                          <a:effectLst/>
                        </a:rPr>
                        <a:t>Why do we need to use an environment manager such as conda?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54252"/>
                  </a:ext>
                </a:extLst>
              </a:tr>
              <a:tr h="4169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10:05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4"/>
                        </a:rPr>
                        <a:t>Using libraries to extend Python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How do I make use of what others have built in their libraries?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What are the best practices in importing libraries?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How do I know what a library provides?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792361"/>
                  </a:ext>
                </a:extLst>
              </a:tr>
              <a:tr h="1824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10:35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 dirty="0">
                          <a:solidFill>
                            <a:srgbClr val="1AA4DA"/>
                          </a:solidFill>
                          <a:effectLst/>
                          <a:hlinkClick r:id="rId5"/>
                        </a:rPr>
                        <a:t>Break</a:t>
                      </a:r>
                      <a:endParaRPr lang="en-SG" sz="1400" dirty="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 dirty="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242967"/>
                  </a:ext>
                </a:extLst>
              </a:tr>
              <a:tr h="29966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10:45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6"/>
                        </a:rPr>
                        <a:t>Variables as data containers in programming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How do we store information in Python?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How do we modify data?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963754"/>
                  </a:ext>
                </a:extLst>
              </a:tr>
              <a:tr h="4169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11:20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7"/>
                        </a:rPr>
                        <a:t>Introduction to data types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What are data types?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Why does the data type matter?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How do we work with text in Python?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241611"/>
                  </a:ext>
                </a:extLst>
              </a:tr>
              <a:tr h="1824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12:00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8"/>
                        </a:rPr>
                        <a:t>Lunch Break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504376"/>
                  </a:ext>
                </a:extLst>
              </a:tr>
              <a:tr h="29966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13:00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9"/>
                        </a:rPr>
                        <a:t>Performing your first API query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How can we perform our first API query?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How do we interact with the response we get back from the API?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95457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20DB63B-9CEA-A3CB-229B-D5A5AF0D1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90" y="1277035"/>
            <a:ext cx="1344507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872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05F5-4634-02FB-5E2C-845E430A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Overview- Day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B37543-0864-A736-1199-1172F3B76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848622"/>
              </p:ext>
            </p:extLst>
          </p:nvPr>
        </p:nvGraphicFramePr>
        <p:xfrm>
          <a:off x="457200" y="1600200"/>
          <a:ext cx="8210552" cy="3839584"/>
        </p:xfrm>
        <a:graphic>
          <a:graphicData uri="http://schemas.openxmlformats.org/drawingml/2006/table">
            <a:tbl>
              <a:tblPr/>
              <a:tblGrid>
                <a:gridCol w="684213">
                  <a:extLst>
                    <a:ext uri="{9D8B030D-6E8A-4147-A177-3AD203B41FA5}">
                      <a16:colId xmlns:a16="http://schemas.microsoft.com/office/drawing/2014/main" val="701199226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27126580"/>
                    </a:ext>
                  </a:extLst>
                </a:gridCol>
                <a:gridCol w="2052638">
                  <a:extLst>
                    <a:ext uri="{9D8B030D-6E8A-4147-A177-3AD203B41FA5}">
                      <a16:colId xmlns:a16="http://schemas.microsoft.com/office/drawing/2014/main" val="1190806885"/>
                    </a:ext>
                  </a:extLst>
                </a:gridCol>
                <a:gridCol w="4789488">
                  <a:extLst>
                    <a:ext uri="{9D8B030D-6E8A-4147-A177-3AD203B41FA5}">
                      <a16:colId xmlns:a16="http://schemas.microsoft.com/office/drawing/2014/main" val="1589848572"/>
                    </a:ext>
                  </a:extLst>
                </a:gridCol>
              </a:tblGrid>
              <a:tr h="4169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13:40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2"/>
                        </a:rPr>
                        <a:t>Manipulating a collection of records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What are some common data types used to store collections of items?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How can we manipulate the data in these collections?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726196"/>
                  </a:ext>
                </a:extLst>
              </a:tr>
              <a:tr h="4169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14:30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3"/>
                        </a:rPr>
                        <a:t>Working with numeric and time data in Python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What are the different numeric types in Python?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How can we work with date and time in Python?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How can we properly format our numeric data?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63845"/>
                  </a:ext>
                </a:extLst>
              </a:tr>
              <a:tr h="1824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15:00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4"/>
                        </a:rPr>
                        <a:t>Break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662636"/>
                  </a:ext>
                </a:extLst>
              </a:tr>
              <a:tr h="29966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15:30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5"/>
                        </a:rPr>
                        <a:t>How do I compare?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How can we make comparisons between values in Python?</a:t>
                      </a:r>
                      <a:br>
                        <a:rPr lang="en-SG" sz="1400">
                          <a:effectLst/>
                        </a:rPr>
                      </a:br>
                      <a:r>
                        <a:rPr lang="en-SG" sz="1400">
                          <a:effectLst/>
                        </a:rPr>
                        <a:t>Truey-ness in Python - what do we mean by True and False?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84475"/>
                  </a:ext>
                </a:extLst>
              </a:tr>
              <a:tr h="4169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16:00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6"/>
                        </a:rPr>
                        <a:t>Deciding an appropriate course of action in my program flow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How can we make a program decide how to process an input?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309070"/>
                  </a:ext>
                </a:extLst>
              </a:tr>
              <a:tr h="41691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17:00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7"/>
                        </a:rPr>
                        <a:t>Wrap-up</a:t>
                      </a: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What have we accomplished so far in our walk with the API response?</a:t>
                      </a:r>
                      <a:br>
                        <a:rPr lang="en-SG" sz="1400">
                          <a:effectLst/>
                        </a:rPr>
                      </a:br>
                      <a:r>
                        <a:rPr lang="en-SG" sz="1400">
                          <a:effectLst/>
                        </a:rPr>
                        <a:t>What are we going to do tomorrow?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089710"/>
                  </a:ext>
                </a:extLst>
              </a:tr>
              <a:tr h="1824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17:10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Finish</a:t>
                      </a:r>
                    </a:p>
                  </a:txBody>
                  <a:tcPr marL="30416" marR="30416" marT="30416" marB="3041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36500" marR="36500" marT="18250" marB="18250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2024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21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1580-D6EB-A2D1-4862-1081DFA4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 – Day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0487CE-5365-10F6-2B21-DABCD8FC9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15988"/>
              </p:ext>
            </p:extLst>
          </p:nvPr>
        </p:nvGraphicFramePr>
        <p:xfrm>
          <a:off x="666632" y="1331914"/>
          <a:ext cx="7888283" cy="2615090"/>
        </p:xfrm>
        <a:graphic>
          <a:graphicData uri="http://schemas.openxmlformats.org/drawingml/2006/table">
            <a:tbl>
              <a:tblPr/>
              <a:tblGrid>
                <a:gridCol w="657358">
                  <a:extLst>
                    <a:ext uri="{9D8B030D-6E8A-4147-A177-3AD203B41FA5}">
                      <a16:colId xmlns:a16="http://schemas.microsoft.com/office/drawing/2014/main" val="4183285276"/>
                    </a:ext>
                  </a:extLst>
                </a:gridCol>
                <a:gridCol w="657358">
                  <a:extLst>
                    <a:ext uri="{9D8B030D-6E8A-4147-A177-3AD203B41FA5}">
                      <a16:colId xmlns:a16="http://schemas.microsoft.com/office/drawing/2014/main" val="3419431001"/>
                    </a:ext>
                  </a:extLst>
                </a:gridCol>
                <a:gridCol w="1972070">
                  <a:extLst>
                    <a:ext uri="{9D8B030D-6E8A-4147-A177-3AD203B41FA5}">
                      <a16:colId xmlns:a16="http://schemas.microsoft.com/office/drawing/2014/main" val="2344372713"/>
                    </a:ext>
                  </a:extLst>
                </a:gridCol>
                <a:gridCol w="4601497">
                  <a:extLst>
                    <a:ext uri="{9D8B030D-6E8A-4147-A177-3AD203B41FA5}">
                      <a16:colId xmlns:a16="http://schemas.microsoft.com/office/drawing/2014/main" val="6676076"/>
                    </a:ext>
                  </a:extLst>
                </a:gridCol>
              </a:tblGrid>
              <a:tr h="42381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b="1">
                          <a:effectLst/>
                        </a:rPr>
                        <a:t>Day 2</a:t>
                      </a: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09:00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2"/>
                        </a:rPr>
                        <a:t>Taking a jog down memory lane</a:t>
                      </a: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What are we trying to do by the end of the session?</a:t>
                      </a:r>
                      <a:br>
                        <a:rPr lang="en-SG" sz="1400">
                          <a:effectLst/>
                        </a:rPr>
                      </a:br>
                      <a:r>
                        <a:rPr lang="en-SG" sz="1400">
                          <a:effectLst/>
                        </a:rPr>
                        <a:t>What have we covered in the session yesterday?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17949"/>
                  </a:ext>
                </a:extLst>
              </a:tr>
              <a:tr h="58844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09:40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3"/>
                        </a:rPr>
                        <a:t>Building your own reusable code with functions</a:t>
                      </a: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How do we create reusable codes in our program?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What are some best practices in writing reusable codes?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11196"/>
                  </a:ext>
                </a:extLst>
              </a:tr>
              <a:tr h="25919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11:00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4"/>
                        </a:rPr>
                        <a:t>Break</a:t>
                      </a: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526945"/>
                  </a:ext>
                </a:extLst>
              </a:tr>
              <a:tr h="58844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11:10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5"/>
                        </a:rPr>
                        <a:t>Managing user and code failures</a:t>
                      </a: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How are errors handled in Python?</a:t>
                      </a:r>
                      <a:br>
                        <a:rPr lang="en-SG" sz="1400">
                          <a:effectLst/>
                        </a:rPr>
                      </a:br>
                      <a:r>
                        <a:rPr lang="en-SG" sz="1400">
                          <a:effectLst/>
                        </a:rPr>
                        <a:t>What are some common coding practices to handle errors in programming?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890695"/>
                  </a:ext>
                </a:extLst>
              </a:tr>
              <a:tr h="25919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12:00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6"/>
                        </a:rPr>
                        <a:t>Lunch Break</a:t>
                      </a: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 dirty="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7553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CE0C7DA-CCF6-F497-2B3F-E168D5EE7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28" y="133191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94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D486-F36A-B37C-25F3-6F00BFFE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 – Day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A9F1E3-B1AB-2DA8-653A-BAC4ACB21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930981"/>
              </p:ext>
            </p:extLst>
          </p:nvPr>
        </p:nvGraphicFramePr>
        <p:xfrm>
          <a:off x="457200" y="1600200"/>
          <a:ext cx="8210550" cy="2924748"/>
        </p:xfrm>
        <a:graphic>
          <a:graphicData uri="http://schemas.openxmlformats.org/drawingml/2006/table">
            <a:tbl>
              <a:tblPr/>
              <a:tblGrid>
                <a:gridCol w="746415">
                  <a:extLst>
                    <a:ext uri="{9D8B030D-6E8A-4147-A177-3AD203B41FA5}">
                      <a16:colId xmlns:a16="http://schemas.microsoft.com/office/drawing/2014/main" val="2768720626"/>
                    </a:ext>
                  </a:extLst>
                </a:gridCol>
                <a:gridCol w="2239240">
                  <a:extLst>
                    <a:ext uri="{9D8B030D-6E8A-4147-A177-3AD203B41FA5}">
                      <a16:colId xmlns:a16="http://schemas.microsoft.com/office/drawing/2014/main" val="1643880043"/>
                    </a:ext>
                  </a:extLst>
                </a:gridCol>
                <a:gridCol w="5224895">
                  <a:extLst>
                    <a:ext uri="{9D8B030D-6E8A-4147-A177-3AD203B41FA5}">
                      <a16:colId xmlns:a16="http://schemas.microsoft.com/office/drawing/2014/main" val="445361252"/>
                    </a:ext>
                  </a:extLst>
                </a:gridCol>
              </a:tblGrid>
              <a:tr h="42381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13:00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 dirty="0">
                          <a:solidFill>
                            <a:srgbClr val="1AA4DA"/>
                          </a:solidFill>
                          <a:effectLst/>
                          <a:hlinkClick r:id="rId2"/>
                        </a:rPr>
                        <a:t>Automation using control functions</a:t>
                      </a:r>
                      <a:endParaRPr lang="en-SG" sz="1400" dirty="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How do we perform repetition without repetition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5513465"/>
                  </a:ext>
                </a:extLst>
              </a:tr>
              <a:tr h="58844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14:10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 dirty="0">
                          <a:solidFill>
                            <a:srgbClr val="1AA4DA"/>
                          </a:solidFill>
                          <a:effectLst/>
                          <a:hlinkClick r:id="rId3"/>
                        </a:rPr>
                        <a:t>Importing and exporting your results</a:t>
                      </a:r>
                      <a:endParaRPr lang="en-SG" sz="1400" dirty="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How do we read and export results between hard disk and Python memory?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What are some common file formats?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235998"/>
                  </a:ext>
                </a:extLst>
              </a:tr>
              <a:tr h="25919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15:00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4"/>
                        </a:rPr>
                        <a:t>Break</a:t>
                      </a: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SG" sz="1400" dirty="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883262"/>
                  </a:ext>
                </a:extLst>
              </a:tr>
              <a:tr h="42381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15:30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5"/>
                        </a:rPr>
                        <a:t>Putting it altogether</a:t>
                      </a:r>
                      <a:endParaRPr lang="en-SG" sz="1400" dirty="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Are you ready to write your first Python code to work with the API of your choice?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382423"/>
                  </a:ext>
                </a:extLst>
              </a:tr>
              <a:tr h="423819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16:40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u="none" strike="noStrike">
                          <a:solidFill>
                            <a:srgbClr val="1AA4DA"/>
                          </a:solidFill>
                          <a:effectLst/>
                          <a:hlinkClick r:id="rId6"/>
                        </a:rPr>
                        <a:t>Next steps</a:t>
                      </a:r>
                      <a:endParaRPr lang="en-SG" sz="1400">
                        <a:effectLst/>
                      </a:endParaRP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 dirty="0">
                          <a:effectLst/>
                        </a:rPr>
                        <a:t>What else can I do next?</a:t>
                      </a:r>
                      <a:br>
                        <a:rPr lang="en-SG" sz="1400" dirty="0">
                          <a:effectLst/>
                        </a:rPr>
                      </a:br>
                      <a:r>
                        <a:rPr lang="en-SG" sz="1400" dirty="0">
                          <a:effectLst/>
                        </a:rPr>
                        <a:t>How should I go about improving my Python skills?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68391"/>
                  </a:ext>
                </a:extLst>
              </a:tr>
              <a:tr h="25919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17:00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SG" sz="1400">
                          <a:effectLst/>
                        </a:rPr>
                        <a:t>Finish</a:t>
                      </a:r>
                    </a:p>
                  </a:txBody>
                  <a:tcPr marL="48149" marR="48149" marT="48149" marB="48149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57778" marR="57778" marT="28889" marB="28889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962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166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op view. of desk young engineer in his home">
            <a:extLst>
              <a:ext uri="{FF2B5EF4-FFF2-40B4-BE49-F238E27FC236}">
                <a16:creationId xmlns:a16="http://schemas.microsoft.com/office/drawing/2014/main" id="{C59E5162-71F0-4C51-B2C0-225B7D4BA1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6569" r="3868" b="-1"/>
          <a:stretch>
            <a:fillRect/>
          </a:stretch>
        </p:blipFill>
        <p:spPr>
          <a:xfrm>
            <a:off x="457200" y="1600200"/>
            <a:ext cx="4038600" cy="45259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8EDEA-0B6B-0A8C-BD38-53792824EF0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SG" sz="2600" dirty="0"/>
              <a:t>Engage actively by attempting the hands-on exercises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SG" sz="26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SG" sz="2600" dirty="0"/>
              <a:t>Ask questions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SG" sz="26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SG" sz="2600" dirty="0"/>
              <a:t>Review and apply concepts after the workshop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513EC9-0696-14C8-F686-94BE49D2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88913"/>
            <a:ext cx="8229600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Maximising</a:t>
            </a:r>
            <a:r>
              <a:rPr lang="en-US" dirty="0"/>
              <a:t> Your Learning</a:t>
            </a:r>
          </a:p>
        </p:txBody>
      </p:sp>
    </p:spTree>
    <p:extLst>
      <p:ext uri="{BB962C8B-B14F-4D97-AF65-F5344CB8AC3E}">
        <p14:creationId xmlns:p14="http://schemas.microsoft.com/office/powerpoint/2010/main" val="374958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B7AE-21D7-C420-76A1-3778B399F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E9599-95BD-97DA-C464-F9701B897E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2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B6E8-67A2-B9F8-B47B-7E545DD1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computational thinking?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2C94F-731F-05A0-9208-5CEF6115E2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SG" dirty="0"/>
              <a:t>Break down complex problems into smaller parts (Decomposition)</a:t>
            </a:r>
          </a:p>
          <a:p>
            <a:r>
              <a:rPr lang="en-SG" dirty="0"/>
              <a:t>Find patterns and similarities (Pattern Recognition)</a:t>
            </a:r>
          </a:p>
          <a:p>
            <a:r>
              <a:rPr lang="en-SG" dirty="0"/>
              <a:t>Focusing on important details while ignoring the irrelevant information (Abstraction)</a:t>
            </a:r>
          </a:p>
          <a:p>
            <a:r>
              <a:rPr lang="en-SG" dirty="0"/>
              <a:t>Creating step by step solutions (Algorithm Design)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181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1596-BC2F-958B-8BD8-F83A12AF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peek into the minds of programmers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72027F-7F6F-4029-6B64-176767FA91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4040556"/>
              </p:ext>
            </p:extLst>
          </p:nvPr>
        </p:nvGraphicFramePr>
        <p:xfrm>
          <a:off x="-397476" y="183300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83B0E47-1317-BEDE-F914-ACD934F438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3078464"/>
              </p:ext>
            </p:extLst>
          </p:nvPr>
        </p:nvGraphicFramePr>
        <p:xfrm>
          <a:off x="1112330" y="1331913"/>
          <a:ext cx="2143312" cy="2446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5CFD88-783E-8B91-1845-6BDFB6BD4E55}"/>
              </a:ext>
            </a:extLst>
          </p:cNvPr>
          <p:cNvSpPr txBox="1"/>
          <p:nvPr/>
        </p:nvSpPr>
        <p:spPr>
          <a:xfrm>
            <a:off x="6437870" y="2458995"/>
            <a:ext cx="2397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Coding is an iterative process</a:t>
            </a:r>
          </a:p>
        </p:txBody>
      </p:sp>
    </p:spTree>
    <p:extLst>
      <p:ext uri="{BB962C8B-B14F-4D97-AF65-F5344CB8AC3E}">
        <p14:creationId xmlns:p14="http://schemas.microsoft.com/office/powerpoint/2010/main" val="2277739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C377-AF9B-FF28-A1C8-E528B157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– what is it?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3B9B5-B3BE-F419-83C3-613044435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act of </a:t>
            </a:r>
            <a:r>
              <a:rPr lang="en-SG" dirty="0"/>
              <a:t>giving instructions the computer to perform specific tasks</a:t>
            </a:r>
          </a:p>
          <a:p>
            <a:endParaRPr lang="en-SG" dirty="0"/>
          </a:p>
          <a:p>
            <a:r>
              <a:rPr lang="en-SG" dirty="0"/>
              <a:t>Instructions need to be precise as computers cannot think for themselves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48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C160D-DB11-E317-016D-E7F83B50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programming languages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C1104-ED4D-0169-8B29-6F2CBB5B41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SG" dirty="0"/>
              <a:t>Fortran – numerical analysis</a:t>
            </a:r>
          </a:p>
          <a:p>
            <a:r>
              <a:rPr lang="en-SG" dirty="0"/>
              <a:t>C – system programming</a:t>
            </a:r>
          </a:p>
          <a:p>
            <a:r>
              <a:rPr lang="en-SG" dirty="0"/>
              <a:t>PERL – system administration, general programming</a:t>
            </a:r>
          </a:p>
          <a:p>
            <a:pPr lvl="1"/>
            <a:r>
              <a:rPr lang="en-SG" dirty="0"/>
              <a:t>De facto for bioinformatics programming in the early 2000s</a:t>
            </a:r>
          </a:p>
          <a:p>
            <a:r>
              <a:rPr lang="en-SG" dirty="0"/>
              <a:t>Python – general programming</a:t>
            </a:r>
          </a:p>
        </p:txBody>
      </p:sp>
    </p:spTree>
    <p:extLst>
      <p:ext uri="{BB962C8B-B14F-4D97-AF65-F5344CB8AC3E}">
        <p14:creationId xmlns:p14="http://schemas.microsoft.com/office/powerpoint/2010/main" val="169705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3D72-9119-B480-0C7C-26326762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Decisions, decisions, decisions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303DE-D87C-31A6-9DC0-B21642D0EE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Languages have different strengths &amp; weaknesses</a:t>
            </a:r>
          </a:p>
          <a:p>
            <a:endParaRPr lang="en-US" dirty="0"/>
          </a:p>
          <a:p>
            <a:r>
              <a:rPr lang="en-US" dirty="0"/>
              <a:t>Some languages occupy specific niches. For instance:</a:t>
            </a:r>
          </a:p>
          <a:p>
            <a:pPr lvl="1"/>
            <a:r>
              <a:rPr lang="en-US" dirty="0"/>
              <a:t>R: Statistical computing</a:t>
            </a:r>
          </a:p>
          <a:p>
            <a:pPr lvl="1"/>
            <a:r>
              <a:rPr lang="en-US" dirty="0"/>
              <a:t>Fortran: Numeric computing </a:t>
            </a:r>
          </a:p>
          <a:p>
            <a:pPr lvl="1"/>
            <a:r>
              <a:rPr lang="en-US" dirty="0"/>
              <a:t>C/C++: High-performance computing</a:t>
            </a:r>
          </a:p>
          <a:p>
            <a:endParaRPr lang="en-US" dirty="0"/>
          </a:p>
          <a:p>
            <a:r>
              <a:rPr lang="en-US" dirty="0"/>
              <a:t>Others are more general purpose, like </a:t>
            </a:r>
            <a:r>
              <a:rPr lang="en-US" b="1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18226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EFDB7-1E35-3347-FC78-98B234EF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Python: A gentle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FC63B-38D1-943A-04E4-7F1D35CE60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0225" y="1524000"/>
            <a:ext cx="5634092" cy="4219575"/>
          </a:xfrm>
        </p:spPr>
        <p:txBody>
          <a:bodyPr>
            <a:normAutofit fontScale="92500" lnSpcReduction="20000"/>
          </a:bodyPr>
          <a:lstStyle/>
          <a:p>
            <a:r>
              <a:rPr lang="en-SG" dirty="0"/>
              <a:t>Open source free software</a:t>
            </a:r>
          </a:p>
          <a:p>
            <a:r>
              <a:rPr lang="en-SG" dirty="0"/>
              <a:t>Developed by Guido van Rossum in the 1990s</a:t>
            </a:r>
          </a:p>
          <a:p>
            <a:r>
              <a:rPr lang="en-SG" dirty="0"/>
              <a:t>Easy to learn and read</a:t>
            </a:r>
          </a:p>
          <a:p>
            <a:r>
              <a:rPr lang="en-SG" dirty="0"/>
              <a:t>Straight forward English-like syntax</a:t>
            </a:r>
          </a:p>
          <a:p>
            <a:pPr lvl="1"/>
            <a:r>
              <a:rPr lang="en-SG" dirty="0"/>
              <a:t>Designed to be intuitive for beginners</a:t>
            </a:r>
          </a:p>
          <a:p>
            <a:r>
              <a:rPr lang="en-SG" dirty="0"/>
              <a:t>Use for scripting, web site, data analytics, and many more</a:t>
            </a:r>
            <a:endParaRPr lang="en-US" dirty="0"/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021DB18E-45C0-D08D-015F-596A54587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896" y="3062287"/>
            <a:ext cx="2857498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71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3C77-F677-AEA8-BC61-D45971E1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and weaknesses of Python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5CAB6B-042A-9D04-2A02-00B2EBBDB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979759"/>
              </p:ext>
            </p:extLst>
          </p:nvPr>
        </p:nvGraphicFramePr>
        <p:xfrm>
          <a:off x="850042" y="1470797"/>
          <a:ext cx="7817708" cy="3916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854">
                  <a:extLst>
                    <a:ext uri="{9D8B030D-6E8A-4147-A177-3AD203B41FA5}">
                      <a16:colId xmlns:a16="http://schemas.microsoft.com/office/drawing/2014/main" val="2926268016"/>
                    </a:ext>
                  </a:extLst>
                </a:gridCol>
                <a:gridCol w="3908854">
                  <a:extLst>
                    <a:ext uri="{9D8B030D-6E8A-4147-A177-3AD203B41FA5}">
                      <a16:colId xmlns:a16="http://schemas.microsoft.com/office/drawing/2014/main" val="3562878548"/>
                    </a:ext>
                  </a:extLst>
                </a:gridCol>
              </a:tblGrid>
              <a:tr h="452370">
                <a:tc>
                  <a:txBody>
                    <a:bodyPr/>
                    <a:lstStyle/>
                    <a:p>
                      <a:r>
                        <a:rPr lang="en-US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Weaknesses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80889"/>
                  </a:ext>
                </a:extLst>
              </a:tr>
              <a:tr h="452370">
                <a:tc>
                  <a:txBody>
                    <a:bodyPr/>
                    <a:lstStyle/>
                    <a:p>
                      <a:r>
                        <a:rPr lang="en-US" dirty="0"/>
                        <a:t>Easy to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Sensitive to indentation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725405"/>
                  </a:ext>
                </a:extLst>
              </a:tr>
              <a:tr h="1115432">
                <a:tc>
                  <a:txBody>
                    <a:bodyPr/>
                    <a:lstStyle/>
                    <a:p>
                      <a:r>
                        <a:rPr lang="en-US" dirty="0"/>
                        <a:t>Rich ecosystem of packages to support wide range of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slow when working with large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90691"/>
                  </a:ext>
                </a:extLst>
              </a:tr>
              <a:tr h="1115432">
                <a:tc>
                  <a:txBody>
                    <a:bodyPr/>
                    <a:lstStyle/>
                    <a:p>
                      <a:r>
                        <a:rPr lang="en-US" dirty="0"/>
                        <a:t>Good documentation and active developer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Lack of static type checking can mean codes can fail silently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387653"/>
                  </a:ext>
                </a:extLst>
              </a:tr>
              <a:tr h="780802">
                <a:tc>
                  <a:txBody>
                    <a:bodyPr/>
                    <a:lstStyle/>
                    <a:p>
                      <a:r>
                        <a:rPr lang="en-US" dirty="0"/>
                        <a:t>Actively maintained and developed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 lack of compatibility between Python versions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449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367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D38F-6C95-A259-5981-51FA5365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development environment: 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B6473-42C3-7923-0AE0-3B72C837B6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tools designed for software development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Popular ones include Visual Studio Code (VSC), PyCharm and IDLE</a:t>
            </a:r>
          </a:p>
          <a:p>
            <a:endParaRPr lang="en-US" dirty="0"/>
          </a:p>
          <a:p>
            <a:r>
              <a:rPr lang="en-US" dirty="0"/>
              <a:t>Extensions allow language specific features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9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167A-8983-0A1C-0648-1A0625B68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Let’s jump in!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36B36-88FF-C6A1-472A-846CFA8172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9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32088</TotalTime>
  <Words>936</Words>
  <Application>Microsoft Macintosh PowerPoint</Application>
  <PresentationFormat>On-screen Show (4:3)</PresentationFormat>
  <Paragraphs>161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Custom Design</vt:lpstr>
      <vt:lpstr>Introduction to Python</vt:lpstr>
      <vt:lpstr>Course Facilitators</vt:lpstr>
      <vt:lpstr>Course Overview- Day 1</vt:lpstr>
      <vt:lpstr>Course Overview- Day 1</vt:lpstr>
      <vt:lpstr>Course Overview – Day 2</vt:lpstr>
      <vt:lpstr>Course Overview – Day 2</vt:lpstr>
      <vt:lpstr>Maximising Your Learning</vt:lpstr>
      <vt:lpstr>Introduction to programming</vt:lpstr>
      <vt:lpstr>What is computational thinking?</vt:lpstr>
      <vt:lpstr>A peek into the minds of programmers</vt:lpstr>
      <vt:lpstr>Programming – what is it?</vt:lpstr>
      <vt:lpstr>Examples of programming languages</vt:lpstr>
      <vt:lpstr>Decisions, decisions, decisions</vt:lpstr>
      <vt:lpstr>Python: A gentle introduction</vt:lpstr>
      <vt:lpstr>Strengths and weaknesses of Python</vt:lpstr>
      <vt:lpstr>The development environment: IDEs</vt:lpstr>
      <vt:lpstr>Let’s jump in!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Selina</dc:creator>
  <cp:lastModifiedBy>Jeremy Ng</cp:lastModifiedBy>
  <cp:revision>4643</cp:revision>
  <cp:lastPrinted>2020-06-30T03:51:24Z</cp:lastPrinted>
  <dcterms:created xsi:type="dcterms:W3CDTF">2015-07-08T05:38:21Z</dcterms:created>
  <dcterms:modified xsi:type="dcterms:W3CDTF">2025-08-21T00:31:53Z</dcterms:modified>
</cp:coreProperties>
</file>